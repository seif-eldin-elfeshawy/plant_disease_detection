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4332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4332"/>
                </a:solidFill>
                <a:latin typeface="Arial"/>
              </a:rPr>
              <a:t>CNN vs MobileNetV2 — All Metrics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CNN From Scratch</c:v>
                </c:pt>
              </c:strCache>
            </c:strRef>
          </c:tx>
          <c:spPr>
            <a:solidFill>
              <a:srgbClr val="2D6A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E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77.6</c:v>
                </c:pt>
                <c:pt idx="1">
                  <c:v>77.3</c:v>
                </c:pt>
                <c:pt idx="2">
                  <c:v>77.1</c:v>
                </c:pt>
                <c:pt idx="3">
                  <c:v>76.5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MobileNetV2</c:v>
                </c:pt>
              </c:strCache>
            </c:strRef>
          </c:tx>
          <c:spPr>
            <a:solidFill>
              <a:srgbClr val="C99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E2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F1-Score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80.6</c:v>
                </c:pt>
                <c:pt idx="1">
                  <c:v>80.7</c:v>
                </c:pt>
                <c:pt idx="2">
                  <c:v>79.7</c:v>
                </c:pt>
                <c:pt idx="3">
                  <c:v>79.9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E2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165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7EF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655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E22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206240"/>
            <a:ext cx="4206240" cy="42062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5120640"/>
            <a:ext cx="2468880" cy="246888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868680"/>
            <a:ext cx="777240" cy="777240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8686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🍅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9875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TOMATO LEAF DISEASE CLASSIFICATION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 — CNN and MobileNetV2 Transfer Learning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377440" cy="27432"/>
          </a:xfrm>
          <a:prstGeom prst="rect">
            <a:avLst/>
          </a:prstGeom>
          <a:solidFill>
            <a:srgbClr val="C9962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57200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your names here]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Training Program: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course name]
</a:t>
            </a:r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Instructor: </a:t>
            </a:r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[Add instructor name]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Our Idea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3949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diseases reduce crop health and productivity.
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a disease from a leaf's appearance takes skill, time,
and experience — and mistakes are costly for farmers.
</a:t>
            </a:r>
            <a:pPr indent="0" marL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idea: </a:t>
            </a:r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deep learning model to look at a tomato</a:t>
            </a:r>
            <a:endParaRPr lang="en-US" sz="16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photo and automatically recognize the disease.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42062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315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🍃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4983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Leaf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487168" y="4572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063240" y="42062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3063240" y="4315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🧠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108960" y="4983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01768" y="457200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5577840" y="4206240"/>
            <a:ext cx="1828800" cy="1371600"/>
          </a:xfrm>
          <a:prstGeom prst="roundRect">
            <a:avLst>
              <a:gd name="adj" fmla="val 8000"/>
            </a:avLst>
          </a:prstGeom>
          <a:solidFill>
            <a:srgbClr val="C9962C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43159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5623560" y="498348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52360" y="1280160"/>
            <a:ext cx="4206240" cy="4389120"/>
          </a:xfrm>
          <a:prstGeom prst="roundRect">
            <a:avLst>
              <a:gd name="adj" fmla="val 3043"/>
            </a:avLst>
          </a:prstGeom>
          <a:solidFill>
            <a:srgbClr val="D8F3DC"/>
          </a:solidFill>
          <a:ln/>
        </p:spPr>
      </p:sp>
      <p:sp>
        <p:nvSpPr>
          <p:cNvPr id="16" name="Text 14"/>
          <p:cNvSpPr/>
          <p:nvPr/>
        </p:nvSpPr>
        <p:spPr>
          <a:xfrm>
            <a:off x="7452360" y="2103120"/>
            <a:ext cx="4206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🍅🍃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7818120" y="356616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tells a story —</a:t>
            </a:r>
            <a:endParaRPr lang="en-US" sz="14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model learns to read it.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14173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image classification system for tomato leaves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417320" y="2295144"/>
            <a:ext cx="9418320" cy="0"/>
          </a:xfrm>
          <a:prstGeom prst="line">
            <a:avLst/>
          </a:prstGeom>
          <a:noFill/>
          <a:ln w="12700">
            <a:solidFill>
              <a:srgbClr val="DDE7D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2350008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350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🩺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17320" y="235000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the disease class — including the healthy case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417320" y="3227832"/>
            <a:ext cx="9418320" cy="0"/>
          </a:xfrm>
          <a:prstGeom prst="line">
            <a:avLst/>
          </a:prstGeom>
          <a:noFill/>
          <a:ln w="12700">
            <a:solidFill>
              <a:srgbClr val="DDE7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82696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826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🧱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17320" y="3282696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Convolutional Neural Network (CNN) from scratch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417320" y="4160520"/>
            <a:ext cx="9418320" cy="0"/>
          </a:xfrm>
          <a:prstGeom prst="line">
            <a:avLst/>
          </a:prstGeom>
          <a:noFill/>
          <a:ln w="12700">
            <a:solidFill>
              <a:srgbClr val="DDE7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4215384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215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17320" y="421538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it against a pretrained MobileNetV2 (Transfer Learning)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1417320" y="5093208"/>
            <a:ext cx="9418320" cy="0"/>
          </a:xfrm>
          <a:prstGeom prst="line">
            <a:avLst/>
          </a:prstGeom>
          <a:noFill/>
          <a:ln w="12700">
            <a:solidFill>
              <a:srgbClr val="DDE7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5148072"/>
            <a:ext cx="640080" cy="640080"/>
          </a:xfrm>
          <a:prstGeom prst="ellipse">
            <a:avLst/>
          </a:prstGeom>
          <a:solidFill>
            <a:srgbClr val="1B433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514807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17320" y="514807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both models with Accuracy, Precision, Recall and F1-score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1417320" y="6025896"/>
            <a:ext cx="9418320" cy="0"/>
          </a:xfrm>
          <a:prstGeom prst="line">
            <a:avLst/>
          </a:prstGeom>
          <a:noFill/>
          <a:ln w="12700">
            <a:solidFill>
              <a:srgbClr val="DDE7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Dataset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200400" cy="4297680"/>
          </a:xfrm>
          <a:prstGeom prst="roundRect">
            <a:avLst>
              <a:gd name="adj" fmla="val 4000"/>
            </a:avLst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600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(incl. healthy)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05840" y="3200400"/>
            <a:ext cx="2286000" cy="0"/>
          </a:xfrm>
          <a:prstGeom prst="line">
            <a:avLst/>
          </a:prstGeom>
          <a:noFill/>
          <a:ln w="12700">
            <a:solidFill>
              <a:srgbClr val="74C69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337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25,851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54864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images collected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8,800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after balancing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(800 per class)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371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Classes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114800" y="1828800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spot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114800" y="2359152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359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blight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114800" y="2889504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17" name="Text 15"/>
          <p:cNvSpPr/>
          <p:nvPr/>
        </p:nvSpPr>
        <p:spPr>
          <a:xfrm>
            <a:off x="4251960" y="28895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114800" y="3419856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19" name="Text 17"/>
          <p:cNvSpPr/>
          <p:nvPr/>
        </p:nvSpPr>
        <p:spPr>
          <a:xfrm>
            <a:off x="425196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Mold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114800" y="3950208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21" name="Text 19"/>
          <p:cNvSpPr/>
          <p:nvPr/>
        </p:nvSpPr>
        <p:spPr>
          <a:xfrm>
            <a:off x="425196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Septoria leaf spot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114800" y="4480560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Spider mites (Two-spotted)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26680" y="1828800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7726680" y="2359152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0" y="235915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Yellow Leaf Curl Virus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726680" y="2889504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29" name="Text 27"/>
          <p:cNvSpPr/>
          <p:nvPr/>
        </p:nvSpPr>
        <p:spPr>
          <a:xfrm>
            <a:off x="7863840" y="288950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mosaic virus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726680" y="3419856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31" name="Text 29"/>
          <p:cNvSpPr/>
          <p:nvPr/>
        </p:nvSpPr>
        <p:spPr>
          <a:xfrm>
            <a:off x="7863840" y="341985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7726680" y="3950208"/>
            <a:ext cx="3429000" cy="457200"/>
          </a:xfrm>
          <a:prstGeom prst="roundRect">
            <a:avLst>
              <a:gd name="adj" fmla="val 16000"/>
            </a:avLst>
          </a:prstGeom>
          <a:solidFill>
            <a:srgbClr val="D8F3DC"/>
          </a:solidFill>
          <a:ln/>
        </p:spPr>
      </p:sp>
      <p:sp>
        <p:nvSpPr>
          <p:cNvPr id="33" name="Text 31"/>
          <p:cNvSpPr/>
          <p:nvPr/>
        </p:nvSpPr>
        <p:spPr>
          <a:xfrm>
            <a:off x="7863840" y="395020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Powdery mildew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114800" y="5257800"/>
            <a:ext cx="7040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 fits the task: it provides real tomato-leaf photos across every common disease plus a healthy class, giving the model enough visual variety to learn to tell diseases apart.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Exploration &amp; Cleaning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80160" y="1371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checked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766560" y="1426464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F1E3C6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0" y="14264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0574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 checked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766560" y="2112264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F1E3C6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21122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743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80160" y="27432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dimensions &amp; formats inspected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766560" y="2798064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F1E3C6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7980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256×256, JPEG/PNG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80160" y="34290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Corrupted / unreadable images detected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766560" y="3483864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F1E3C6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34838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1148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4114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80160" y="41148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duplicate images detected (hashing)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766560" y="4169664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F1E3C6"/>
          </a:solidFill>
          <a:ln/>
        </p:spPr>
      </p:sp>
      <p:sp>
        <p:nvSpPr>
          <p:cNvPr id="27" name="Text 25"/>
          <p:cNvSpPr/>
          <p:nvPr/>
        </p:nvSpPr>
        <p:spPr>
          <a:xfrm>
            <a:off x="6766560" y="41696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622 found &amp; removed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800600"/>
            <a:ext cx="548640" cy="54864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4800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280160" y="480060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 analyzed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766560" y="4855464"/>
            <a:ext cx="3108960" cy="438912"/>
          </a:xfrm>
          <a:prstGeom prst="roundRect">
            <a:avLst>
              <a:gd name="adj" fmla="val 50000"/>
            </a:avLst>
          </a:prstGeom>
          <a:solidFill>
            <a:srgbClr val="F1E3C6"/>
          </a:solidFill>
          <a:ln/>
        </p:spPr>
      </p:sp>
      <p:sp>
        <p:nvSpPr>
          <p:cNvPr id="32" name="Text 30"/>
          <p:cNvSpPr/>
          <p:nvPr/>
        </p:nvSpPr>
        <p:spPr>
          <a:xfrm>
            <a:off x="6766560" y="4855464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(1,004–3,113 / class)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5623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3840480" y="5623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4160520" y="562356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4160520" y="5623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Training Data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452360" y="5623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7772400" y="5623560"/>
            <a:ext cx="3291840" cy="548640"/>
          </a:xfrm>
          <a:prstGeom prst="roundRect">
            <a:avLst>
              <a:gd name="adj" fmla="val 16667"/>
            </a:avLst>
          </a:prstGeom>
          <a:solidFill>
            <a:srgbClr val="C9962C"/>
          </a:solidFill>
          <a:ln/>
        </p:spPr>
      </p:sp>
      <p:sp>
        <p:nvSpPr>
          <p:cNvPr id="40" name="Text 38"/>
          <p:cNvSpPr/>
          <p:nvPr/>
        </p:nvSpPr>
        <p:spPr>
          <a:xfrm>
            <a:off x="7772400" y="562356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Reliable Model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 Pipeline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635252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2183892" y="15544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439924" y="1554480"/>
            <a:ext cx="1635252" cy="1051560"/>
          </a:xfrm>
          <a:prstGeom prst="roundRect">
            <a:avLst>
              <a:gd name="adj" fmla="val 8696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2439924" y="1554480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(800/class)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075176" y="15544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1208" y="1554480"/>
            <a:ext cx="1635252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4331208" y="1554480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66460" y="15544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2492" y="1554480"/>
            <a:ext cx="1635252" cy="1051560"/>
          </a:xfrm>
          <a:prstGeom prst="roundRect">
            <a:avLst>
              <a:gd name="adj" fmla="val 8696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6222492" y="1554480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857744" y="15544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3776" y="1554480"/>
            <a:ext cx="1635252" cy="1051560"/>
          </a:xfrm>
          <a:prstGeom prst="roundRect">
            <a:avLst>
              <a:gd name="adj" fmla="val 8696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8113776" y="1554480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749028" y="1554480"/>
            <a:ext cx="256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005060" y="1554480"/>
            <a:ext cx="1635252" cy="1051560"/>
          </a:xfrm>
          <a:prstGeom prst="roundRect">
            <a:avLst>
              <a:gd name="adj" fmla="val 8696"/>
            </a:avLst>
          </a:prstGeom>
          <a:solidFill>
            <a:srgbClr val="C9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10005060" y="1554480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306324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63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30632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Resizing  —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image resized to 224×224 pixels — the input size both models expect.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74904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🎚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34440" y="37490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 —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values rescaled: 0–255 → 0–1 for the CNN; -1 to 1 for MobileNetV2.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434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44348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/ Test Split  —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training, 15% validation, 15% test — test set held back for final evaluation only.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74C69D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5120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34440" y="512064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 —  </a:t>
            </a:r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flip, rotation (±15%), zoom (±15%) and translation (±10%) applied to training images to help the model generalize.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1 — CNN From Scratch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CNN = Convolutional Neural Network, built for image data.
</a:t>
            </a:r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Automatically learns visual features from raw pixels.
</a:t>
            </a:r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Early layers learn simple patterns — edges &amp; textures.
</a:t>
            </a:r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Deeper layers learn complex, disease-specific patterns.
</a:t>
            </a:r>
            <a:pPr indent="0" marL="0">
              <a:lnSpc>
                <a:spcPct val="145000"/>
              </a:lnSpc>
              <a:buNone/>
            </a:pPr>
            <a:r>
              <a:rPr lang="en-US" sz="15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final layer performs the 11-class classification.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4709160"/>
            <a:ext cx="4480560" cy="914400"/>
          </a:xfrm>
          <a:prstGeom prst="roundRect">
            <a:avLst>
              <a:gd name="adj" fmla="val 10000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70916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5,108,555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total parameters (all trainable)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23444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2520" y="180136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194767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194767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 + MaxPool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32520" y="25146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66090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66090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 + MaxPool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3227832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374136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374136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128 + MaxPool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3941064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087368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087368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256 + MaxPool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32520" y="4654296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309360" y="4800600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4800600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5367528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309360" y="5513832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1B4332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5513832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 + Dropout 0.5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732520" y="608076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6227064"/>
            <a:ext cx="5394960" cy="566928"/>
          </a:xfrm>
          <a:prstGeom prst="roundRect">
            <a:avLst>
              <a:gd name="adj" fmla="val 12903"/>
            </a:avLst>
          </a:prstGeom>
          <a:solidFill>
            <a:srgbClr val="C9962C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6227064"/>
            <a:ext cx="5394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11 classes (Softmax)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2 — Transfer Learning (MobileNetV2)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486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MobileNetV2 is a CNN pretrained on ImageNet (1M+ images).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Instead of learning visual features from zero, we reuse
  MobileNetV2's already-learned, general-purpose features.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original classification head is replaced with our own
  layers, tailored to 11 tomato-leaf classes.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pretrained base is frozen at first — only the new
  layers are trained.
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Transfer learning can cut training time and often improves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generalization compared to training from scratch.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5532120"/>
            <a:ext cx="5486400" cy="685800"/>
          </a:xfrm>
          <a:prstGeom prst="roundRect">
            <a:avLst>
              <a:gd name="adj" fmla="val 13333"/>
            </a:avLst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5532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165,387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trainable of 2,423,371 total params — most of the network stays frozen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9360" y="123444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B4332"/>
          </a:solidFill>
          <a:ln/>
        </p:spPr>
      </p:sp>
      <p:sp>
        <p:nvSpPr>
          <p:cNvPr id="7" name="Text 5"/>
          <p:cNvSpPr/>
          <p:nvPr/>
        </p:nvSpPr>
        <p:spPr>
          <a:xfrm>
            <a:off x="6309360" y="123444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Input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224×224×3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732520" y="192024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09360" y="210312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74C69D"/>
          </a:solidFill>
          <a:ln/>
        </p:spPr>
      </p:sp>
      <p:sp>
        <p:nvSpPr>
          <p:cNvPr id="10" name="Text 8"/>
          <p:cNvSpPr/>
          <p:nvPr/>
        </p:nvSpPr>
        <p:spPr>
          <a:xfrm>
            <a:off x="6309360" y="210312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Extractor (frozen)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732520" y="278892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09360" y="297180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B4332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9718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Average Pooling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732520" y="365760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309360" y="384048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1B4332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38404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128 + Dropout 0.5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732520" y="4526280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96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309360" y="4709160"/>
            <a:ext cx="5394960" cy="685800"/>
          </a:xfrm>
          <a:prstGeom prst="roundRect">
            <a:avLst>
              <a:gd name="adj" fmla="val 10667"/>
            </a:avLst>
          </a:prstGeom>
          <a:solidFill>
            <a:srgbClr val="C9962C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470916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11 classes (Softmax)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5623560"/>
            <a:ext cx="5394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fine-tuning: the last 30 MobileNetV2 layers were later unfrozen and trained with a very small learning rate (1e-5) — see Results for the outcome.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 &amp; Evaluation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Setup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51206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73736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606040" y="173736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249424"/>
            <a:ext cx="53949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24942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2606040" y="2249424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761488"/>
            <a:ext cx="5394960" cy="51206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76148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 (max)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06040" y="2761488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25   ·   MobileNetV2: 20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273552"/>
            <a:ext cx="53949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2735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606040" y="3273552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(learning rate 0.001)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785616"/>
            <a:ext cx="5394960" cy="512064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78561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2606040" y="3785616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Categorical Crossentropy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5394960" cy="5120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429768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606040" y="4297680"/>
            <a:ext cx="3246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+ Reduce LR on Plateau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30936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173736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173736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percentage of correct predictions.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309360" y="274320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274320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predicted cases for a class, how many were actually correct.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309360" y="374904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92240" y="374904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actual cases for a class, how many were correctly detected.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309360" y="4754880"/>
            <a:ext cx="539496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DDE7D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4754880"/>
            <a:ext cx="5029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between Precision and Recall.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Model Comparison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1371600"/>
        </p:xfrm>
        <a:graphic>
          <a:graphicData uri="http://schemas.openxmlformats.org/drawingml/2006/table">
            <a:tbl>
              <a:tblPr/>
              <a:tblGrid>
                <a:gridCol w="3931920"/>
                <a:gridCol w="1783080"/>
                <a:gridCol w="1783080"/>
                <a:gridCol w="1783080"/>
                <a:gridCol w="17830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From Scratch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MobileNetV2 (Transfer Learning)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E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" name="Chart 0" descr=""/>
          <p:cNvGraphicFramePr/>
          <p:nvPr/>
        </p:nvGraphicFramePr>
        <p:xfrm>
          <a:off x="548640" y="3017520"/>
          <a:ext cx="7315200" cy="3246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138160" y="3017520"/>
            <a:ext cx="3474720" cy="3246120"/>
          </a:xfrm>
          <a:prstGeom prst="roundRect">
            <a:avLst>
              <a:gd name="adj" fmla="val 3944"/>
            </a:avLst>
          </a:prstGeom>
          <a:solidFill>
            <a:srgbClr val="1B4332"/>
          </a:solidFill>
          <a:ln/>
        </p:spPr>
      </p:sp>
      <p:sp>
        <p:nvSpPr>
          <p:cNvPr id="6" name="Text 2"/>
          <p:cNvSpPr/>
          <p:nvPr/>
        </p:nvSpPr>
        <p:spPr>
          <a:xfrm>
            <a:off x="8138160" y="324612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🏆</a:t>
            </a:r>
            <a:endParaRPr lang="en-US" sz="4000" dirty="0"/>
          </a:p>
        </p:txBody>
      </p:sp>
      <p:sp>
        <p:nvSpPr>
          <p:cNvPr id="7" name="Text 3"/>
          <p:cNvSpPr/>
          <p:nvPr/>
        </p:nvSpPr>
        <p:spPr>
          <a:xfrm>
            <a:off x="8138160" y="40233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138160" y="43891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MobileNetV2</a:t>
            </a:r>
            <a:endParaRPr lang="en-US" sz="19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8366760" y="525780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on every metric than the CNN built from scratch — the pretrained ImageNet features generalize better than features learned from our smaller dataset alone.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&amp; Error Analysis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the MobileNetV2 classification report on the test set: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D8F3D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Easiest to Classify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Yellow Leaf Curl Virus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1.00 · Recall 0.94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 mosaic virus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3694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0.99 · Recall 0.88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5628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0.93 · Recall 0.92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classes have distinctive visual patterns (leaf curling, mosaic color mottling) that are hard to confuse with other diseases.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1737360"/>
            <a:ext cx="5394960" cy="4434840"/>
          </a:xfrm>
          <a:prstGeom prst="roundRect">
            <a:avLst>
              <a:gd name="adj" fmla="val 2474"/>
            </a:avLst>
          </a:prstGeom>
          <a:solidFill>
            <a:srgbClr val="F1E3C6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920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Hardest to Classify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251460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blight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492240" y="282549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0.63 · Recall 0.78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9224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Spot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492240" y="369417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0.64 · Recall 0.83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Bacterial spot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92240" y="4562856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0.72 · Recall 0.71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92240" y="5257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Leaf-spot diseases (blight, spot, bacterial spot) look visually similar — small brown/dark lesions — which likely causes the model to confuse them with each other.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1548872" y="640080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16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3949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a tomato leaf disease classification system across 11 classes.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Trained a CNN from scratch as a baseline.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Compared it with MobileNetV2 transfer learning.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Evaluated both with Accuracy, Precision, Recall and F1-score.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MobileNetV2 was the best model — 80.6% test accuracy,
  79.9% F1-score — ahead of the CNN on every metric.
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Fine-tuning the last 30 MobileNetV2 layers did not help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(79.6% accuracy) — the frozen-base model was kept as final.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2801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4C69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09360" y="1746504"/>
            <a:ext cx="128016" cy="12801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8" name="Text 6"/>
          <p:cNvSpPr/>
          <p:nvPr/>
        </p:nvSpPr>
        <p:spPr>
          <a:xfrm>
            <a:off x="6629400" y="161848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diverse, real-world field images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09360" y="2313432"/>
            <a:ext cx="128016" cy="12801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0" name="Text 8"/>
          <p:cNvSpPr/>
          <p:nvPr/>
        </p:nvSpPr>
        <p:spPr>
          <a:xfrm>
            <a:off x="6629400" y="2185416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and more balanced datasets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9360" y="2880360"/>
            <a:ext cx="128016" cy="12801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752344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fine-tuning strategies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3447288"/>
            <a:ext cx="128016" cy="12801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3319272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handling of visually similar diseases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309360" y="4014216"/>
            <a:ext cx="128016" cy="12801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38862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on images outside the dataset environment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4581144"/>
            <a:ext cx="128016" cy="128016"/>
          </a:xfrm>
          <a:prstGeom prst="ellipse">
            <a:avLst/>
          </a:prstGeom>
          <a:solidFill>
            <a:srgbClr val="C9962C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4453128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the model as a web or mobile app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9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2026-09-10T09:26:18Z</dcterms:created>
  <dcterms:modified xsi:type="dcterms:W3CDTF">2026-09-10T09:26:18Z</dcterms:modified>
</cp:coreProperties>
</file>